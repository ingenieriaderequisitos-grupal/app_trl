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06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6983291" y="1819656"/>
            <a:ext cx="358445" cy="358445"/>
          </a:xfrm>
          <a:prstGeom prst="ellipse">
            <a:avLst/>
          </a:prstGeom>
          <a:solidFill>
            <a:srgbClr val="F4D35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560320"/>
            <a:ext cx="1388974" cy="658368"/>
          </a:xfrm>
          <a:prstGeom prst="triangle">
            <a:avLst/>
          </a:prstGeom>
          <a:solidFill>
            <a:srgbClr val="3E82A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2807208"/>
            <a:ext cx="861164" cy="493776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EVALUACIÓN TRL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Evaluación del Nivel de Madurez Tecnológica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Visión, Casos de Uso e Historias de Usuario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Multi Función  |  Julio 2026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332CD3-DE24-33F0-E4DF-7CB3DFA57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56" y="-11430"/>
            <a:ext cx="275414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Presentación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21792" y="960120"/>
            <a:ext cx="5431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Comprender el problema que resuelve la Plataforma de Evaluación TRL de la UTPL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576072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5431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Conocer la visión, el alcance y los objetivos de negocio del producto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576072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21792" y="2551176"/>
            <a:ext cx="5431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Identificar los módulos, casos de uso e historias de usuario del sistema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576072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21792" y="3346704"/>
            <a:ext cx="5431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Revisar el flujo de evaluación TRL y su validación mediante checklist de calidad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42232"/>
            <a:ext cx="576072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21792" y="4142232"/>
            <a:ext cx="5431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Presentar las épicas, los riesgos de requerimientos y los criterios de éxito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A4D7C4-89EF-72F9-6CAA-F1025F43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55" y="0"/>
            <a:ext cx="26758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Plataforma de Evaluación TRL?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TRL-UTPL = medir de forma objetiva, ágil y semiautomatizada el Nivel de Madurez Tecnológica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aplicación móvil cloud-native que permite a investigadores y emprendedores de la UTPL evaluar el estado real de desarrollo de sus tecnologías, reduciendo la dependencia en evaluaciones manuales y subjetivas basadas en hojas de cálculo genéricas.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 de Visión del Producto (UTPL):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5760720" cy="1874520"/>
          </a:xfrm>
          <a:prstGeom prst="roundRect">
            <a:avLst>
              <a:gd name="adj" fmla="val 3902"/>
            </a:avLst>
          </a:prstGeom>
          <a:solidFill>
            <a:srgbClr val="EAF2FA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40080" y="2962656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investigadores y emprendedores de la UTPL que requieren validar el estado de sus proyectos, la Plataforma de Evaluación TRL-UTPL es una aplicación móvil cloud-native que mide de forma objetiva, ágil y semiautomatizada el Nivel de Madurez Tecnológica de sus invenciones, reduciendo la subjetividad y fortaleciendo la toma de decisiones basada en evidencia.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798525-1377-FD20-0E54-0A05691BE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270157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vs. la Solución Propuesta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371600" cy="457200"/>
          </a:xfrm>
          <a:prstGeom prst="rect">
            <a:avLst/>
          </a:prstGeom>
          <a:solidFill>
            <a:srgbClr val="1A5276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914400"/>
            <a:ext cx="2194560" cy="457200"/>
          </a:xfrm>
          <a:prstGeom prst="rect">
            <a:avLst/>
          </a:prstGeom>
          <a:solidFill>
            <a:srgbClr val="1A5276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1828800" y="914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914400"/>
            <a:ext cx="2194560" cy="457200"/>
          </a:xfrm>
          <a:prstGeom prst="rect">
            <a:avLst/>
          </a:prstGeom>
          <a:solidFill>
            <a:srgbClr val="1A5276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023360" y="914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137160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12064" y="1371600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1371600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1883664" y="1371600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manual y subjetiva según el criterio del evaluador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0" y="1371600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078224" y="1371600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semiautomatizada con indicadores definidos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066544"/>
            <a:ext cx="1371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12064" y="2066544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2066544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1883664" y="2066544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Hojas de cálculo genéricas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0" y="2066544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4078224" y="2066544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móvil cloud-native con clasificación automática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761488"/>
            <a:ext cx="137160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512064" y="276148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0" y="2761488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1883664" y="2761488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en los resultados de evaluación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2761488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078224" y="2761488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la subjetividad mediante clasificación automática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56432"/>
            <a:ext cx="1371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12064" y="3456432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0" y="3456432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1883664" y="3456432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Demoras significativas en decisiones estratégicas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23360" y="3456432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4078224" y="3456432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directo a los procesos de I+D+i basado en evidencia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151376"/>
            <a:ext cx="137160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512064" y="4151376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TRL-UTPL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0" y="4151376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1883664" y="415137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basada únicamente en criterio individual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023360" y="4151376"/>
            <a:ext cx="2194560" cy="694944"/>
          </a:xfrm>
          <a:prstGeom prst="rect">
            <a:avLst/>
          </a:prstGeom>
          <a:solidFill>
            <a:srgbClr val="EAF2FA"/>
          </a:solidFill>
          <a:ln w="63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078224" y="4151376"/>
            <a:ext cx="2084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adaptados al ecosistema de innovación de la UTPL</a:t>
            </a:r>
            <a:endParaRPr lang="en-US" sz="9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DABA4E8-1A07-EAE6-C62A-0C53918B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464" y="0"/>
            <a:ext cx="259953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Negocio (SMART)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objetivos de negocio justifican la inversión en el proyecto (BABOK v3, §1.3.1):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760720" cy="825246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21792" y="1335024"/>
            <a:ext cx="5431536" cy="3466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OB-01 — Reducir el tiempo de evaluación de una invención tecnológica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645051"/>
            <a:ext cx="5431536" cy="45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reducción del 50% en el tiempo de procesamiento y emisión del informe TRL  ·  Plazo: 3 meses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96846"/>
            <a:ext cx="5760720" cy="825246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21792" y="2233422"/>
            <a:ext cx="5431536" cy="3466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OB-02 — Disminuir las inconsistencias en los resultados por subjetividad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543449"/>
            <a:ext cx="5431536" cy="45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tasa de apelaciones o revisiones de nivel TRL reducida a menos del 5%  ·  Plazo: 6 meses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95244"/>
            <a:ext cx="5760720" cy="825246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21792" y="3131820"/>
            <a:ext cx="5431536" cy="3466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OB-03 — Lograr la adopción de la herramienta en el ecosistema universitario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441847"/>
            <a:ext cx="5431536" cy="45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80% de los proyectos de I+D+i activos registrados y evaluados en la plataforma  ·  Plazo: 4 meses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93642"/>
            <a:ext cx="5760720" cy="825246"/>
          </a:xfrm>
          <a:prstGeom prst="roundRect">
            <a:avLst>
              <a:gd name="adj" fmla="val 6648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1792" y="4030218"/>
            <a:ext cx="5431536" cy="3466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OB-04 — Facilitar la toma de decisiones basada en evidencia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340245"/>
            <a:ext cx="5431536" cy="45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100% de los reportes gerenciales generados de forma automatizada  ·  Plazo: 2 meses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208B06-26C2-3D01-FDCE-F35028EBF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8275"/>
            <a:ext cx="273866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Interesados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Clasificados según la Matriz Poder/Interés (Wiegers, 2013, Cap. 6):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760720" cy="645566"/>
          </a:xfrm>
          <a:prstGeom prst="roundRect">
            <a:avLst>
              <a:gd name="adj" fmla="val 8499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21792" y="1335024"/>
            <a:ext cx="5431536" cy="2711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Jumbo — Centro de Innovación UTPL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569586"/>
            <a:ext cx="5431536" cy="35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 y patrocina el proyecto  ·  Poder Alto / Interés Alto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17166"/>
            <a:ext cx="5760720" cy="645566"/>
          </a:xfrm>
          <a:prstGeom prst="roundRect">
            <a:avLst>
              <a:gd name="adj" fmla="val 8499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21792" y="2053742"/>
            <a:ext cx="5431536" cy="2711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Investigadores y Emprendedores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288304"/>
            <a:ext cx="5431536" cy="35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 sus invenciones y requieren validar el TRL  ·  Poder Medio / Interés Alto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35885"/>
            <a:ext cx="5760720" cy="645566"/>
          </a:xfrm>
          <a:prstGeom prst="roundRect">
            <a:avLst>
              <a:gd name="adj" fmla="val 8499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21792" y="2772461"/>
            <a:ext cx="5431536" cy="2711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Evaluadores Tecnológicos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007023"/>
            <a:ext cx="5431536" cy="35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 las evidencias cargadas y certifican el nivel TRL  ·  Poder Medio / Interés Alto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54603"/>
            <a:ext cx="5760720" cy="645566"/>
          </a:xfrm>
          <a:prstGeom prst="roundRect">
            <a:avLst>
              <a:gd name="adj" fmla="val 8499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1792" y="3491179"/>
            <a:ext cx="5431536" cy="2711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I+D+i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725741"/>
            <a:ext cx="5431536" cy="35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Toman decisiones y consumen los reportes generados por el sistema  ·  Poder Alto / Interés Medio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73322"/>
            <a:ext cx="5760720" cy="645566"/>
          </a:xfrm>
          <a:prstGeom prst="roundRect">
            <a:avLst>
              <a:gd name="adj" fmla="val 8499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621792" y="4209898"/>
            <a:ext cx="5431536" cy="2711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444459"/>
            <a:ext cx="5431536" cy="35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la arquitectura backend y frontend móvil  ·  Poder Alto / Interés Alto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BD8A63C-E694-725B-637D-3AD2C39F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68" y="0"/>
            <a:ext cx="272593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M-01. Registro y Gestión de Invenciones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83291" y="2079346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11780"/>
            <a:ext cx="1388974" cy="651053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55925"/>
            <a:ext cx="861164" cy="488290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extendida: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al investigador crear el perfil inicial de su tecnología ingresando metadatos básicos (título, rama de innovación, equipo). El sistema valida la información en tiempo real y ejecuta un almacenamiento cifrado en la infraestructura cloud para proteger la propiedad intelectual desde el primer momento.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clave en el proyecto: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investigador registra su invención y el sistema genera un identificador único vinculado a su perfil en menos de 1 segundo. Un autodiagnóstico inicial lo orienta sobre el alcance esperado de su tecnología.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 Registro de Invención (Alta)  ·  Autodiagnóstico Inicial (Media)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del módulo: Alta — es la base de todo el flujo de evaluación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EAB808-0A83-F337-43FD-B4B5AE75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596" y="0"/>
            <a:ext cx="264540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M-02. Evaluación TRL — Cuestionarios y Clasificación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83291" y="2079346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11780"/>
            <a:ext cx="1388974" cy="651053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55925"/>
            <a:ext cx="861164" cy="488290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extendida: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evaluación que despliega un cuestionario dinámico adaptado a la rama de innovación (Software, Hardware, Biotecnología, etc.) y calcula matemáticamente el nivel TRL propuesto (1-9) a partir de los pesos de las respuestas validadas.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clave en el proyecto: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cuestionario exige cargar documentación de respaldo por cada criterio. Si el nivel objetivo no se cumple, el sistema emite observaciones automáticas indicando qué falta para subir de nivel.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 Cuestionario Dinámico TRL, Clasificación Automática y Generación de Brechas (todas Alta)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del módulo: Alta — es el núcleo del sistema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FF4078-9D40-2392-271B-AE8716D9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8" y="0"/>
            <a:ext cx="279498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M-03. Validación de Evidencias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83291" y="2079346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11780"/>
            <a:ext cx="1388974" cy="651053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55925"/>
            <a:ext cx="861164" cy="488290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extendida: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al investigador adjuntar de forma estructurada los documentos de respaldo exigidos por el cuestionario, y al evaluador auditar la veracidad de esas evidencias frente a las respuestas declaradas.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clave en el proyecto: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evaluador accede a la documentación cargada en la nube mediante enlaces temporales, aprueba o rechaza la validez de la evidencia y registra observaciones para que el investigador las corrija.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 Carga de Evidencias y Validación (ambas Alta)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del módulo: Alta — garantiza la objetividad del resultado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5AE4A2-D9C8-8BE4-666A-C8AECE591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557" y="0"/>
            <a:ext cx="253544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M-04. Reportes y Dashboard Analítico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83291" y="2079346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11780"/>
            <a:ext cx="1388974" cy="651053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55925"/>
            <a:ext cx="861164" cy="488290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extendida: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gerencial que muestra al Gestor de I+D+i las estadísticas globales y el estado del portafolio de invenciones de la universidad, con métricas actualizadas de TRL promedio, distribución y estados.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clave en el proyecto: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Gestor consulta el dashboard en tiempo real y exporta el reporte final del nivel TRL con sus observaciones técnicas en formato PDF para el expediente del investigador.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 Dashboard de I+D+i (Media)  ·  Exportación de Resultados (Baja)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del módulo: Media — apoya la toma de decisiones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3A85B0-0B4A-2641-11BD-29BF8CD6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26" y="0"/>
            <a:ext cx="265097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M-05. Gestión de Usuarios y Roles Institucionales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83291" y="2079346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11780"/>
            <a:ext cx="1388974" cy="651053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55925"/>
            <a:ext cx="861164" cy="488290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589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extendida: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autenticación que segrega el acceso mediante control de roles (RBAC) entre Investigador, Evaluador, Gestor de I+D+i y Administrador, aplicando el principio de mínimo privilegio en cada sesión.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clave en el proyecto: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Administrador crea y suspende cuentas, asigna roles y expedientes a los evaluadores según su especialización técnica. Cada inicio de sesión exige autenticación de doble factor (MFA).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5394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 Control de Roles Institucionales y Asignación de Evaluaciones (ambas Alta)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del módulo: Alta — condición de seguridad para todo el sistema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8D3046-6831-20EE-0FCB-7E2CF7D5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117" y="0"/>
            <a:ext cx="268092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 Central: UC-02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46520" y="868680"/>
            <a:ext cx="2240280" cy="3977640"/>
          </a:xfrm>
          <a:prstGeom prst="roundRect">
            <a:avLst>
              <a:gd name="adj" fmla="val 4082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TRL — Cuestionarios y Lógica de Clasificación (M-02)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 (6 pasos):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1664208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investigador ingresa a la plataforma para registrar la solicitud de evaluación.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202180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2202180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solicitud despliega opcionalmente una interfaz preliminar para definir el nivel TRL.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740152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2740152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solicitud invoca de manera obligatoria el motor para realizar el cuestionario.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278124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" y="3278124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cuestionario exige, como paso integral, la carga de documentación de respaldo.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816096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3816096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documentación se contrasta con las métricas que el Gestor I+D+i configuró en el cuestionario.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354068"/>
            <a:ext cx="29260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4354068"/>
            <a:ext cx="544982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cuestionario completado se remite al Evaluador para auditar y validar la calificación final.</a:t>
            </a:r>
            <a:endParaRPr lang="en-US" sz="11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C9B26D-EB54-9282-2D55-20B340C2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53" y="0"/>
            <a:ext cx="276124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Flujo de UC-02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aplicada: Revisión por Pares + Checklist de Calidad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16736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03504" y="1316736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Completitud: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el flujo cubre desde el registro hasta la validación del evaluador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08048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03504" y="1908048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hay contradicciones entre el cuestionario y la validación de evidencias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99360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03504" y="2499360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lenguaje claro y sin ambigüedades en los 6 pasos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03504" y="3090672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alineado con la arquitectura cloud-native de la plataforma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81984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03504" y="3681984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relacionado con REQ-F-002, REQ-F-003 y las historias US-007 y US-008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73296"/>
            <a:ext cx="5760720" cy="536448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603504" y="4273296"/>
            <a:ext cx="5468112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del negocio: </a:t>
            </a: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Cumple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resuelve la subjetividad en la medición del TRL (OB-02)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92A3F6-2E53-A803-F4D3-9BAC6A50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051" y="0"/>
            <a:ext cx="267194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Requerimiento Validado y Corregido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50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detectado en la revisión inicial de REQ-F-003: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inicial (ambigua):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177393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sistema genera el nivel TRL." — verbo pasivo, sin criterio de exactitud ni responsable claro.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760720" cy="1783080"/>
          </a:xfrm>
          <a:prstGeom prst="roundRect">
            <a:avLst>
              <a:gd name="adj" fmla="val 4103"/>
            </a:avLst>
          </a:prstGeom>
          <a:solidFill>
            <a:srgbClr val="EAF2FA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validada y corregida: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sistema calculará matemáticamente el TRL propuesto basado en los pesos de las respuestas, garantizando un 100% de exactitud, una vez finalizado el cuestionario dinámico" (REQ-F-003).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F04BCF-2647-3E01-2558-D1E16A45E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174" y="0"/>
            <a:ext cx="28568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Épicas del Producto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503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proyecto TRL-UTPL se identifican 4 épicas principales: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●"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EP-01 Gestión de Identidad, Accesos y Roles 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Autenticación de doble factor, RBAC y consentimiento LOPDP.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●"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EP-02 Registro y Orientación de Proyectos 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Perfil tecnológico de la invención y autodiagnóstico preliminar.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596896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●"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EP-03 Evaluación Técnica y Validación TRL 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Cuestionario por niveles, brechas, evidencias y auditoría de expertos.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255264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buSzPct val="100000"/>
              <a:buChar char="●"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EP-04 Analítica, Dashboard y Reportes  </a:t>
            </a: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Monitoreo global, asignación de evaluadores y certificaciones en PDF.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EAF2FA"/>
          </a:solidFill>
          <a:ln w="15875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40080" y="403250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Beneficio: </a:t>
            </a: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las historias de usuario por épicas permite priorizar el backlog y planificar los sprints del MVP.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BF6116-4AB3-7EAF-331B-10473E4B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755" y="0"/>
            <a:ext cx="26232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de Requerimientos y Mitigación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83291" y="2141525"/>
            <a:ext cx="358445" cy="358445"/>
          </a:xfrm>
          <a:prstGeom prst="ellipse">
            <a:avLst/>
          </a:prstGeom>
          <a:solidFill>
            <a:srgbClr val="5DADE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857500"/>
            <a:ext cx="1388974" cy="636422"/>
          </a:xfrm>
          <a:prstGeom prst="triangle">
            <a:avLst/>
          </a:prstGeom>
          <a:solidFill>
            <a:srgbClr val="BBD6E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3096158"/>
            <a:ext cx="861164" cy="477317"/>
          </a:xfrm>
          <a:prstGeom prst="triangle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760720" cy="90297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03504" y="941832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indicadores de TRL cambian durante el desarrollo del sistema (RR-01, prob. Media, impacto Alto).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" y="1365885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módulo de evaluación como un motor dinámico administrable, sin codificar las preguntas de forma estática.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8810"/>
            <a:ext cx="5760720" cy="90297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03504" y="1936242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usabilidad en la versión móvil dificulta la carga de evidencias (RR-02, prob. Baja, impacto Medio).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2360295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pruebas tempranas de UI/UX con investigadores reales utilizando prototipos interactivos.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03220"/>
            <a:ext cx="5760720" cy="90297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03504" y="2930652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indicadores TRL institucionales no se definen a tiempo (dependencia D-01).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3354705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con la Dirección de Innovación UTPL la definición temprana de los indicadores.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97630"/>
            <a:ext cx="5760720" cy="90297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03504" y="3925062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 en el aprovisionamiento del entorno cloud — Docker/servidores (dependencia D-02).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4349115"/>
            <a:ext cx="5468112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</a:t>
            </a: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 TI UTPL gestiona la infraestructura en paralelo al desarrollo del backend.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4EF1B0-CA33-D76B-BE86-B75D7B16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49" y="0"/>
            <a:ext cx="27817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y Criterios de Éxito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03504" y="91440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tiempo de evaluación de semanas a horas (CE-02, vinculado a OB-01)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7734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03504" y="157734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Disminuye la subjetividad: exactitud superior al 95% en la clasificación automática (CE-01, OB-02)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03504" y="224028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la toma de decisiones basada en evidencia mediante reportes automatizados (OB-04)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0322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03504" y="290322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la adopción: meta del 80% de proyectos I+D+i registrados en la plataforma (OB-03)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03504" y="356616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documentada y despliegue CI/CD operativo en el entorno cloud (CE-03)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29100"/>
            <a:ext cx="5760720" cy="57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03504" y="4229100"/>
            <a:ext cx="54681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la protección de la propiedad intelectual mediante cifrado y control de roles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87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de Evaluación TRL-UTPL busca transformar un proceso manual y subjetivo en una evaluación objetiva, ágil y basada en evidencia.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proyecto: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de evaluación (M-02) es el núcleo del sistema y debe diseñarse como un motor dinámico, no codificado de forma estática.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colaboración entre Investigadores, Evaluadores y Gestores de I+D+i es clave para la adopción de la herramienta.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cloud-native y el cumplimiento de la LOPDP son restricciones no negociables del proyecto.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medición de la madurez tecnológica no debe depender del criterio individual, sino de evidencia validada y trazable.”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760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Std 830-1998 — Recommended Practice for Software Requirements Specifications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IIBA (2015) — A Guide to the Business Analysis Body of Knowledge (BABOK Guide), v3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Wiegers, K. &amp; Beatty, J. (2013) — Software Requirements (3ª ed.), Microsoft Press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Gottesdiener, E. (2005) — The Software Requirements Memory Jogger, GOAL/QPC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ISO/IEC/IEEE 29148:2018 — Requirements Engineering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del proyecto: Visión, Casos de Uso e Historias de Usuario — Plataforma TRL, UTPL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446520" y="50292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2E6E99"/>
          </a:solidFill>
          <a:ln w="15875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6983291" y="1819656"/>
            <a:ext cx="358445" cy="358445"/>
          </a:xfrm>
          <a:prstGeom prst="ellipse">
            <a:avLst/>
          </a:prstGeom>
          <a:solidFill>
            <a:srgbClr val="F4D35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6872173" y="2560320"/>
            <a:ext cx="1388974" cy="658368"/>
          </a:xfrm>
          <a:prstGeom prst="triangle">
            <a:avLst/>
          </a:prstGeom>
          <a:solidFill>
            <a:srgbClr val="3E82A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7094409" y="2807208"/>
            <a:ext cx="861164" cy="493776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Multi Función  |  UTPL  |  Julio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2078</Words>
  <Application>Microsoft Office PowerPoint</Application>
  <PresentationFormat>On-screen Show (16:9)</PresentationFormat>
  <Paragraphs>181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Yépez</cp:lastModifiedBy>
  <cp:revision>2</cp:revision>
  <dcterms:created xsi:type="dcterms:W3CDTF">2026-07-22T03:51:11Z</dcterms:created>
  <dcterms:modified xsi:type="dcterms:W3CDTF">2026-07-22T04:15:54Z</dcterms:modified>
</cp:coreProperties>
</file>